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Chase messages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3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Q1’24</c:v>
                  </c:pt>
                  <c:pt idx="1">
                    <c:v>Q2’24</c:v>
                  </c:pt>
                  <c:pt idx="2">
                    <c:v>Q3’24</c:v>
                  </c:pt>
                  <c:pt idx="3">
                    <c:v>Q4’24</c:v>
                  </c:pt>
                  <c:pt idx="4">
                    <c:v>Q1’25</c:v>
                  </c:pt>
                  <c:pt idx="5">
                    <c:v>Q2’25</c:v>
                  </c:pt>
                  <c:pt idx="6">
                    <c:v>Q3’25</c:v>
                  </c:pt>
                  <c:pt idx="7">
                    <c:v>Q4’25</c:v>
                  </c:pt>
                  <c:pt idx="8">
                    <c:v>Q1’26</c:v>
                  </c:pt>
                  <c:pt idx="9">
                    <c:v>Q2’26*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40</c:v>
                </c:pt>
                <c:pt idx="2">
                  <c:v>38</c:v>
                </c:pt>
                <c:pt idx="3">
                  <c:v>57</c:v>
                </c:pt>
                <c:pt idx="4">
                  <c:v>54</c:v>
                </c:pt>
                <c:pt idx="5">
                  <c:v>102</c:v>
                </c:pt>
                <c:pt idx="6">
                  <c:v>225</c:v>
                </c:pt>
                <c:pt idx="7">
                  <c:v>58</c:v>
                </c:pt>
                <c:pt idx="8">
                  <c:v>26</c:v>
                </c:pt>
                <c:pt idx="9">
                  <c:v>101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23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</c:scaling>
        <c:delete val="0"/>
        <c:axPos val="l"/>
        <c:majorGridlines>
          <c:spPr>
            <a:ln w="6350" cap="flat">
              <a:solidFill>
                <a:srgbClr val="EEE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resolve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3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Throttle #81618 (2025)</c:v>
                  </c:pt>
                  <c:pt idx="1">
                    <c:v>Motor #84001 (2025)</c:v>
                  </c:pt>
                  <c:pt idx="2">
                    <c:v>Replacement cycles #89002/4 (2025)</c:v>
                  </c:pt>
                  <c:pt idx="3">
                    <c:v>X2 battery+brakes #49840 (2024)</c:v>
                  </c:pt>
                  <c:pt idx="4">
                    <c:v>Battery in “testing” (2024)</c:v>
                  </c:pt>
                  <c:pt idx="5">
                    <c:v>X1 replacement #107109 (2026)</c:v>
                  </c:pt>
                  <c:pt idx="6">
                    <c:v>E007 replacement #104372 (2026)</c:v>
                  </c:pt>
                  <c:pt idx="7">
                    <c:v>X1 motor #38343 (2024)</c:v>
                  </c:pt>
                  <c:pt idx="8">
                    <c:v>Toolkit #104205 (2026)</c:v>
                  </c:pt>
                  <c:pt idx="9">
                    <c:v>Tyre/tube #101210 (2026)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88</c:v>
                </c:pt>
                <c:pt idx="1">
                  <c:v>80</c:v>
                </c:pt>
                <c:pt idx="2">
                  <c:v>55</c:v>
                </c:pt>
                <c:pt idx="3">
                  <c:v>43</c:v>
                </c:pt>
                <c:pt idx="4">
                  <c:v>38</c:v>
                </c:pt>
                <c:pt idx="5">
                  <c:v>32</c:v>
                </c:pt>
                <c:pt idx="6">
                  <c:v>31</c:v>
                </c:pt>
                <c:pt idx="7">
                  <c:v>27</c:v>
                </c:pt>
                <c:pt idx="8">
                  <c:v>24</c:v>
                </c:pt>
                <c:pt idx="9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23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b"/>
        <c:majorGridlines>
          <c:spPr>
            <a:ln w="6350" cap="flat">
              <a:solidFill>
                <a:srgbClr val="EEE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8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image" Target="../media/image-10-7.jpg"/><Relationship Id="rId8" Type="http://schemas.openxmlformats.org/officeDocument/2006/relationships/image" Target="../media/image-10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image" Target="../media/image-17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5549" y="470916"/>
            <a:ext cx="1091461" cy="1892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3" name="Image 0" descr="/sessions/gallant-funny-allen/deck/img/000086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7553" y="502920"/>
            <a:ext cx="1027453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95549" y="2482596"/>
            <a:ext cx="1091461" cy="1892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1" descr="/sessions/gallant-funny-allen/deck/img/0000298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553" y="2514600"/>
            <a:ext cx="1027453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695549" y="4494276"/>
            <a:ext cx="1091461" cy="18928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7" name="Image 2" descr="/sessions/gallant-funny-allen/deck/img/0000795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553" y="4526280"/>
            <a:ext cx="1027453" cy="1828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0" y="6473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C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WORN BRAKE PADS AT 527 KM · FORK BENT IN TRANSIT · NEW-BOX THROTTLE DAMAGED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6858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PERFORMANCE REVIEW · PREPARED BY BHARAT CYCLE HUB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85800" y="12344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Bharat Cycle Hub × EMotorad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85800" y="187452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840 days of service issues,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4E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in our own chat.</a:t>
            </a:r>
            <a:endParaRPr lang="en-US" sz="3800" dirty="0"/>
          </a:p>
        </p:txBody>
      </p:sp>
      <p:sp>
        <p:nvSpPr>
          <p:cNvPr id="12" name="Text 7"/>
          <p:cNvSpPr/>
          <p:nvPr/>
        </p:nvSpPr>
        <p:spPr>
          <a:xfrm>
            <a:off x="685800" y="39776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in this deck is reconstructed verbatim from the WhatsApp group “Bch X EM service team” — its messages, ticket numbers and photos. Nothing here is opinion.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85800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8,820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8580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C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2624328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280+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262432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C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NUMBERS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62856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711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4562856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C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CHASES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501384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1,020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6501384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C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PHOTOS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COVERED:  24 FEB 2024 — 12 JUN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capability exists. The consistency doesn’t.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chat shows a charger replaced in 4 days when intake was clean — and a throttle that took 88 days. Issues move at normal speed only after senior management is tagged.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6858000" cy="89611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331720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days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88920" y="2423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(April 2025 audit: 50 tickets, 37 unclosed)</a:t>
            </a:r>
            <a:endParaRPr lang="en-US" sz="1250" dirty="0"/>
          </a:p>
          <a:p>
            <a:pPr indent="0" marL="0">
              <a:buNone/>
            </a:pPr>
            <a:r>
              <a:rPr lang="en-US" sz="85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48-HOUR PROMISE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364992"/>
            <a:ext cx="6858000" cy="89611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364992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chase messages BCH had to send over 28 months</a:t>
            </a:r>
            <a:endParaRPr lang="en-US" sz="1250" dirty="0"/>
          </a:p>
          <a:p>
            <a:pPr indent="0" marL="0">
              <a:buNone/>
            </a:pPr>
            <a:r>
              <a:rPr lang="en-US" sz="85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225 IN Q3 2025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398264"/>
            <a:ext cx="6858000" cy="89611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398264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079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88·80·55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88920" y="44897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 the worst throttle, motor and replacement-cycle cases</a:t>
            </a:r>
            <a:endParaRPr lang="en-US" sz="1250" dirty="0"/>
          </a:p>
          <a:p>
            <a:pPr indent="0" marL="0">
              <a:buNone/>
            </a:pPr>
            <a:r>
              <a:rPr lang="en-US" sz="85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#81618 · #84001 · #89002/4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431536"/>
            <a:ext cx="6858000" cy="89611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5431536"/>
            <a:ext cx="64008" cy="89611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5412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of 16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88920" y="55229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from the past 3 months are still open or unclear today</a:t>
            </a:r>
            <a:endParaRPr lang="en-US" sz="1250" dirty="0"/>
          </a:p>
          <a:p>
            <a:pPr indent="0" marL="0">
              <a:buNone/>
            </a:pPr>
            <a:r>
              <a:rPr lang="en-US" sz="85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12 JUN 2026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26609" y="1339596"/>
            <a:ext cx="1777781" cy="24414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2" name="Image 0" descr="/sessions/gallant-funny-allen/deck/img/000007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613" y="1371600"/>
            <a:ext cx="1713773" cy="23774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18120" y="37673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EM’s own audit of BCH’s 24-case backlog — only 12 ever ticketed (5 Jun 2024)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31861" y="4174236"/>
            <a:ext cx="140131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5" name="Image 1" descr="/sessions/gallant-funny-allen/deck/img/0000464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865" y="4206240"/>
            <a:ext cx="1337310" cy="17830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254747" y="4174236"/>
            <a:ext cx="887467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2" descr="/sessions/gallant-funny-allen/deck/img/0000726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751" y="4206240"/>
            <a:ext cx="823459" cy="17830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818120" y="6035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 ticket ledger · battery sticker dispute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issue falls into six repeating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611880" cy="217627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361188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8745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293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" y="2441448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Motors, batteries, displays, brakes, frames — incl. DOA units and whole defective lots.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" y="317296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T-Rex+ lot arrived missing headset spacers (Sep 2025).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16552" y="1600200"/>
            <a:ext cx="3611880" cy="217627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1600200"/>
            <a:ext cx="3611880" cy="822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187452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8072" y="19293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DELAY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36008" y="2441448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Replacements take days to months; stock-outs with no ETA.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317296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throttle requested 8 Apr 2025 arrived ~88 days later (#81618).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38744" y="1600200"/>
            <a:ext cx="3611880" cy="217627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8744" y="1600200"/>
            <a:ext cx="3611880" cy="82296"/>
          </a:xfrm>
          <a:prstGeom prst="rect">
            <a:avLst/>
          </a:prstGeom>
          <a:solidFill>
            <a:srgbClr val="9463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439912" y="1874520"/>
            <a:ext cx="384048" cy="384048"/>
          </a:xfrm>
          <a:prstGeom prst="ellipse">
            <a:avLst/>
          </a:prstGeom>
          <a:solidFill>
            <a:srgbClr val="9463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70264" y="19293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DELAY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2441448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silence; BCH chases for updates, LR numbers, ticket status.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317296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with zero reply while a customer waited in-store (Jun 2026).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3995928"/>
            <a:ext cx="3611880" cy="217627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995928"/>
            <a:ext cx="3611880" cy="822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" y="4270248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3251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FAILURE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816" y="4837176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shipments, untraceable LRs, disputed PODs, transit damage.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" y="5568696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Viper display was lost in courier — admitted after 20 days (Jun 2026).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16552" y="3995928"/>
            <a:ext cx="3611880" cy="217627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16552" y="3995928"/>
            <a:ext cx="361188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7720" y="42702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48072" y="43251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DISPUTE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36008" y="4837176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denied on contested grounds; commitments walked back.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36008" y="5568696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promised battery became “we will correct the manual” (Mar 2026).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238744" y="3995928"/>
            <a:ext cx="3611880" cy="2176272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38744" y="3995928"/>
            <a:ext cx="3611880" cy="822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Shape 39"/>
          <p:cNvSpPr/>
          <p:nvPr/>
        </p:nvSpPr>
        <p:spPr>
          <a:xfrm>
            <a:off x="8439912" y="427024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2" name="Text 40"/>
          <p:cNvSpPr/>
          <p:nvPr/>
        </p:nvSpPr>
        <p:spPr>
          <a:xfrm>
            <a:off x="843991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70264" y="43251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TICKETING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58200" y="4837176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numbers, premature closures, wrong parts shipped.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58200" y="5568696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complaints had no ticket number (Oct 2024).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FOLLOWING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711 chase messages that should never have been needed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Store-side messages like “any update?”, “please reply”, “LR number?”, “customer is asking” — per quarter. The Q3 2025 peak was later traced in the chat itself: EM agents’ Zoho ticket comments were set to “private” and invisible to BCH.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2057400"/>
          <a:ext cx="7863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Q2 2026 covers 1 Apr – 12 Jun only.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778240" y="2194560"/>
            <a:ext cx="2834640" cy="2286000"/>
          </a:xfrm>
          <a:prstGeom prst="rect">
            <a:avLst/>
          </a:prstGeom>
          <a:solidFill>
            <a:srgbClr val="23201D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006840" y="23774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endParaRPr lang="en-US" sz="4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chases in Q3 2025 — more than 3 per working day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9801080" y="4677156"/>
            <a:ext cx="788961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0" name="Image 0" descr="/sessions/gallant-funny-allen/deck/img/0000664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084" y="4709160"/>
            <a:ext cx="724953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0" y="6291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cause, found Sep 2025: Zoho comments marked “private”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12 MAR – 12 JUN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 three months: 16 issues, 6 unresolved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975 messages and ≈101 store-side chases in 90 days — including bursts of 5–6 identical “any update” messages before EM responded.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2276856"/>
            <a:ext cx="3401568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528816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TICKETING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2843784"/>
            <a:ext cx="1700784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74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FAILURE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3410712"/>
            <a:ext cx="1700784" cy="21945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3374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941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DELAY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63240" y="3977640"/>
            <a:ext cx="1133856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261104" y="3941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507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DELAY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3240" y="4544568"/>
            <a:ext cx="1133856" cy="219456"/>
          </a:xfrm>
          <a:prstGeom prst="rect">
            <a:avLst/>
          </a:prstGeom>
          <a:solidFill>
            <a:srgbClr val="946300"/>
          </a:solidFill>
          <a:ln/>
        </p:spPr>
      </p:sp>
      <p:sp>
        <p:nvSpPr>
          <p:cNvPr id="19" name="Text 17"/>
          <p:cNvSpPr/>
          <p:nvPr/>
        </p:nvSpPr>
        <p:spPr>
          <a:xfrm>
            <a:off x="4261104" y="4507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5074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DISPUTE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5111496"/>
            <a:ext cx="566928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694176" y="5074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BY CATEGORY (LAST 3 MONTHS)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0" y="1325880"/>
            <a:ext cx="2011680" cy="1234440"/>
          </a:xfrm>
          <a:prstGeom prst="rect">
            <a:avLst/>
          </a:prstGeom>
          <a:solidFill>
            <a:srgbClr val="FDEAE7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14173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  <a:p>
            <a:pPr indent="0" marL="0">
              <a:buNone/>
            </a:pPr>
            <a:r>
              <a:rPr lang="en-US" sz="85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/ UNCLEAR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464040" y="1325880"/>
            <a:ext cx="2011680" cy="1234440"/>
          </a:xfrm>
          <a:prstGeom prst="rect">
            <a:avLst/>
          </a:prstGeom>
          <a:solidFill>
            <a:srgbClr val="E4F4E8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14173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  <a:p>
            <a:pPr indent="0" marL="0">
              <a:buNone/>
            </a:pPr>
            <a:r>
              <a:rPr lang="en-US" sz="8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— AVG 16 DAYS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7283196" y="3295157"/>
            <a:ext cx="2075688" cy="404845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9" name="Image 0" descr="/sessions/gallant-funny-allen/deck/img/000087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327161"/>
            <a:ext cx="2011680" cy="34083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Docket said display, contained a motor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039738" y="2756916"/>
            <a:ext cx="86028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32" name="Image 1" descr="/sessions/gallant-funny-allen/deck/img/0000799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742" y="2788920"/>
            <a:ext cx="796276" cy="1417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46404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key missing, new unit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7890898" y="4631436"/>
            <a:ext cx="860284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35" name="Image 2" descr="/sessions/gallant-funny-allen/deck/img/0000802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902" y="4663440"/>
            <a:ext cx="796276" cy="1417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315200" y="6099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“Delivered” part that never arrived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9432036" y="4883810"/>
            <a:ext cx="2075688" cy="97657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38" name="Image 3" descr="/sessions/gallant-funny-allen/deck/img/0000835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4915814"/>
            <a:ext cx="2011680" cy="912571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464040" y="6099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total brake failure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01 · TICKET #104372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week old, every part swapped — a month to replace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367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" y="184708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20824"/>
            <a:ext cx="0" cy="91440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E007 error on a week-old cycle. Motor, controller, display and 7-in-1 harness ALL swapped on EM’s instructions — in front of the waiting customer. Nothing works.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9260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3099816"/>
            <a:ext cx="0" cy="91440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077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0" y="290779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shouting in-store. Replacement approved only after BCH tags senior management the same evening.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400507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4178808"/>
            <a:ext cx="0" cy="91440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86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APR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398678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pickup stalls — EM’s year-end audit freezes dispatches.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" y="508406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65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APR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506577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bike finally ships. 31 days end to end, for a bike that failed in week one.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172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days</a:t>
            </a:r>
            <a:pPr indent="0" marL="0">
              <a:buNone/>
            </a:pPr>
            <a:r>
              <a:rPr lang="en-US" sz="12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from failure to replacement — EM’s advertised resolution is 48 hours.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374636" y="1575345"/>
            <a:ext cx="4270248" cy="24271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3" name="Image 0" descr="/sessions/gallant-funny-allen/deck/img/000079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607349"/>
            <a:ext cx="4206240" cy="236314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42245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 cycle packed for reverse pickup (24 Mar 2026)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406640" y="4709160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D8D2C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525512" y="4782312"/>
            <a:ext cx="39684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5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coordinator · 24 Mar, 6:12 PM</a:t>
            </a:r>
            <a:endParaRPr lang="en-US" sz="9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“Sir any one please respond customer is shouting on us please respond 🙏🙏🙏”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680960" y="5669280"/>
            <a:ext cx="3931920" cy="731520"/>
          </a:xfrm>
          <a:prstGeom prst="roundRect">
            <a:avLst>
              <a:gd name="adj" fmla="val 11250"/>
            </a:avLst>
          </a:prstGeom>
          <a:solidFill>
            <a:srgbClr val="D9FDD3"/>
          </a:solidFill>
          <a:ln w="9525">
            <a:solidFill>
              <a:srgbClr val="D8D2C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99832" y="5742432"/>
            <a:ext cx="3694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 Sir, EMotorad · 24 Mar, 6:36 PM</a:t>
            </a:r>
            <a:endParaRPr lang="en-US" sz="9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“commitment must not failed at any cost”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02 · TICKET #109192 — STILL OPEN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Brakes: a systemic defect, then the wrong parts twice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367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9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527 km. Pads changed twice. Caliper once.</a:t>
            </a:r>
            <a:endParaRPr lang="en-US" sz="1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replaced free of cost by the store. The same pattern shows on X1 (total front + rear brake failure, May 2026) and Viper. BCH asked for a root-cause fix on 1 Jun — what arrived a week later were the wrong (resin) pads, and EM then discovered the order had been placed for calipers, not pads.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977640"/>
            <a:ext cx="6035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8D2C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050792"/>
            <a:ext cx="5797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5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Syed, BCH · 1 Jun 2026</a:t>
            </a:r>
            <a:endParaRPr lang="en-US" sz="9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purely hitting the customer experience, this is purely hitting the store reputation.”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4919472"/>
            <a:ext cx="5760720" cy="804672"/>
          </a:xfrm>
          <a:prstGeom prst="roundRect">
            <a:avLst>
              <a:gd name="adj" fmla="val 10227"/>
            </a:avLst>
          </a:prstGeom>
          <a:solidFill>
            <a:srgbClr val="D9FDD3"/>
          </a:solidFill>
          <a:ln w="9525">
            <a:solidFill>
              <a:srgbClr val="D8D2C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4992624"/>
            <a:ext cx="5522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Sehgal, EMotorad · 8 Jun 2026</a:t>
            </a:r>
            <a:endParaRPr lang="en-US" sz="9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“@Rigzen this is wrong pads I called you for this. Why we have not given metal pads?”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12 JUN 2026: METAL PADS / CALIPERS STILL NOT DISPATCHED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92947" y="1293876"/>
            <a:ext cx="1759306" cy="30815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3" name="Image 0" descr="/sessions/gallant-funny-allen/deck/img/000086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951" y="1325880"/>
            <a:ext cx="1695298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8660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pads worn through at 527 km — photo shared in chat, 8 Jun 2026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54596" y="4956630"/>
            <a:ext cx="2258568" cy="10595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6" name="Image 1" descr="/sessions/gallant-funny-allen/deck/img/0000835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4988634"/>
            <a:ext cx="2194560" cy="9955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218212" y="4768596"/>
            <a:ext cx="686216" cy="14356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8" name="Image 2" descr="/sessions/gallant-funny-allen/deck/img/0000881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216" y="4800600"/>
            <a:ext cx="622208" cy="1371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6236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brake failure (May) · replacement controller under repair (Jun)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03 · CUSTOMER BHARGAV — STILL OPEN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“Sending display” → a motor arrives → lost in courier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522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FAILURE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" y="1847088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20824"/>
            <a:ext cx="0" cy="73152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EM: “SENDING DISPLAY” for a Viper customer.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743200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2916936"/>
            <a:ext cx="0" cy="73152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27249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docket EM shared turns out to contain a motor — not the display.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3639312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3813048"/>
            <a:ext cx="0" cy="73152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210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20240" y="36210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“it’s almost 20 days over, please check.”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" y="4535424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" y="4709160"/>
            <a:ext cx="0" cy="731520"/>
          </a:xfrm>
          <a:prstGeom prst="line">
            <a:avLst/>
          </a:prstGeom>
          <a:noFill/>
          <a:ln w="15875">
            <a:solidFill>
              <a:srgbClr val="D8D2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171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JUN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451713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admits: “This is lost somewhere in courier — no response from courier team.” A fresh dispatch is promised in 3–4 days.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" y="5431536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13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20240" y="54132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unconfirmed as this report is generated.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6217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days</a:t>
            </a:r>
            <a:pPr indent="0" marL="0">
              <a:buNone/>
            </a:pPr>
            <a:r>
              <a:rPr lang="en-US" sz="12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before anyone checked where the shipment actually was.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374636" y="2354866"/>
            <a:ext cx="4270248" cy="776667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0" descr="/sessions/gallant-funny-allen/deck/img/000087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386870"/>
            <a:ext cx="4206240" cy="7126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406640" y="4133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docket in question — contents: a motor (9 Jun 2026)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06640" y="4663440"/>
            <a:ext cx="4206240" cy="1143000"/>
          </a:xfrm>
          <a:prstGeom prst="roundRect">
            <a:avLst>
              <a:gd name="adj" fmla="val 7200"/>
            </a:avLst>
          </a:prstGeom>
          <a:solidFill>
            <a:srgbClr val="D9FDD3"/>
          </a:solidFill>
          <a:ln w="9525">
            <a:solidFill>
              <a:srgbClr val="D8D2C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25512" y="4736592"/>
            <a:ext cx="39684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Bikash Kumar, EMotorad · 11 Jun, 11:05 AM</a:t>
            </a:r>
            <a:endParaRPr lang="en-US" sz="9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lost some where in courier - No response from courier team. We will dispatch another display from here - Please give 3-4days time”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406640" y="5943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TrackOn docket (500618219426) was finally shared on the evening of 11 Jun.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3 MONTHS,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more cases from 90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611880" cy="2286000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" cy="2286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3012948" y="1965844"/>
            <a:ext cx="1088136" cy="640313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7" name="Image 0" descr="/sessions/gallant-funny-allen/deck/img/000078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952" y="1997848"/>
            <a:ext cx="1024128" cy="5763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165506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missing — dealer blamed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" y="2258568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EM’s approval team suggested the dealer “mistakenly put the PDI box somewhere else.” Part dispatched 24 days later.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95528" y="3465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#104205 · 24 DAYS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16552" y="1508760"/>
            <a:ext cx="3611880" cy="2286000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508760"/>
            <a:ext cx="64008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16550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audit froze dispatches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22585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tickets pending at once on 2 Apr; EM admitted 4+ dispatches stalled by its audit — then threatened to force-close cases in 3 days.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17720" y="3465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TICKETS LISTED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238744" y="1508760"/>
            <a:ext cx="3611880" cy="2286000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38744" y="1508760"/>
            <a:ext cx="64008" cy="2286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Shape 15"/>
          <p:cNvSpPr/>
          <p:nvPr/>
        </p:nvSpPr>
        <p:spPr>
          <a:xfrm>
            <a:off x="10809787" y="1613916"/>
            <a:ext cx="783225" cy="1344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9" name="Image 1" descr="/sessions/gallant-funny-allen/deck/img/000080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791" y="1645920"/>
            <a:ext cx="719217" cy="12801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439912" y="165506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“Delivered” — but it never arrived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439912" y="2258568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pressed for delivery confirmation; the store produced video proof it never came. EM re-sent the next day.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8439912" y="3465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#104811 · RESOLVED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94360" y="3995928"/>
            <a:ext cx="3611880" cy="2286000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94360" y="3995928"/>
            <a:ext cx="64008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1"/>
          <p:cNvSpPr/>
          <p:nvPr/>
        </p:nvSpPr>
        <p:spPr>
          <a:xfrm>
            <a:off x="3012948" y="4227068"/>
            <a:ext cx="1088136" cy="109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6" name="Image 2" descr="/sessions/gallant-funny-allen/deck/img/0000787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4259072"/>
            <a:ext cx="1024128" cy="10281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95528" y="41422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promise walked back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95528" y="4745736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replacement committed on a Google Meet became “we are getting the correction done in the manual book.”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795528" y="5952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#103240 · DENIED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416552" y="3995928"/>
            <a:ext cx="3611880" cy="2286000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416552" y="3995928"/>
            <a:ext cx="64008" cy="2286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Text 27"/>
          <p:cNvSpPr/>
          <p:nvPr/>
        </p:nvSpPr>
        <p:spPr>
          <a:xfrm>
            <a:off x="4617720" y="41422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colour field blocks replacement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617720" y="4745736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replacement halted 4 days because the bill said Phantom Grey instead of Beige Desert Hawk.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617720" y="5952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LOST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238744" y="3995928"/>
            <a:ext cx="3611880" cy="2286000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238744" y="3995928"/>
            <a:ext cx="64008" cy="2286000"/>
          </a:xfrm>
          <a:prstGeom prst="rect">
            <a:avLst/>
          </a:prstGeom>
          <a:solidFill>
            <a:srgbClr val="946300"/>
          </a:solidFill>
          <a:ln/>
        </p:spPr>
      </p:sp>
      <p:sp>
        <p:nvSpPr>
          <p:cNvPr id="37" name="Shape 32"/>
          <p:cNvSpPr/>
          <p:nvPr/>
        </p:nvSpPr>
        <p:spPr>
          <a:xfrm>
            <a:off x="10657332" y="4453477"/>
            <a:ext cx="1088136" cy="63938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38" name="Image 3" descr="/sessions/gallant-funny-allen/deck/img/0000862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36" y="4485481"/>
            <a:ext cx="1024128" cy="57537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439912" y="41422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complaint — silent 6+ months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439912" y="4745736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customer has already been waiting for more than six months.” EM: “We informed that time also - Not applicable.”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8439912" y="5952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#93089 · UNCLEAR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new bikes arrive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 and dead-on-arrival defects, photographed at the store across 2024–2026. Every photo below was shared in the service group on the day it was found.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87353" y="1796796"/>
            <a:ext cx="1065775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/sessions/gallant-funny-allen/deck/img/000029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357" y="1828800"/>
            <a:ext cx="1001767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bent in transit — new box piece (Dec 2024)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239470" y="1796796"/>
            <a:ext cx="106739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9" name="Image 1" descr="/sessions/gallant-funny-allen/deck/img/0000433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474" y="1828800"/>
            <a:ext cx="1003388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47288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damaged in sealed box (Apr 2025)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093209" y="1796796"/>
            <a:ext cx="1065775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2" descr="/sessions/gallant-funny-allen/deck/img/0000795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213" y="1828800"/>
            <a:ext cx="1001767" cy="1783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0216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damaged, new unit (Mar 2026)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9946137" y="1796796"/>
            <a:ext cx="1065775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5" name="Image 3" descr="/sessions/gallant-funny-allen/deck/img/0000799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141" y="1828800"/>
            <a:ext cx="1001767" cy="1783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53144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key missing (Apr 2026)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1387353" y="4082796"/>
            <a:ext cx="1065775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8" name="Image 4" descr="/sessions/gallant-funny-allen/deck/img/0000794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357" y="4114800"/>
            <a:ext cx="1001767" cy="1783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4360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paint defect — unit boxed for replacement (Mar 2026)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072509" y="4082796"/>
            <a:ext cx="140131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1" name="Image 5" descr="/sessions/gallant-funny-allen/deck/img/00001579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513" y="4114800"/>
            <a:ext cx="1337310" cy="17830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47288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frame — damaged in transit (Aug 2024)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7092398" y="4082796"/>
            <a:ext cx="106739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4" name="Image 6" descr="/sessions/gallant-funny-allen/deck/img/00000404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402" y="4114800"/>
            <a:ext cx="1003388" cy="17830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300216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cycle missing battery, charger, toolkit (May 2024)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9945326" y="4082796"/>
            <a:ext cx="106739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7" descr="/sessions/gallant-funny-allen/deck/img/00006951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7330" y="4114800"/>
            <a:ext cx="1003388" cy="17830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153144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spare arrived defective (Oct 2025)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BY QUARTER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six failures, repeating for ten quarters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084832" cy="2139696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2376" y="212140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complaint waits 16 days for an answer.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34640" y="1645920"/>
            <a:ext cx="2084832" cy="2139696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64592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62656" y="212140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24-case backlog; EM’s audit finds only 12 ever ticketed.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62656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1645920"/>
            <a:ext cx="2084832" cy="2139696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64592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02936" y="212140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slips to 4–5 days; both replacement frames arrive damaged.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2936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0" y="1645920"/>
            <a:ext cx="2084832" cy="2139696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64592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43216" y="212140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“30% of issues have no ticket number”; CEO intervenes.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43216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555480" y="1645920"/>
            <a:ext cx="2084832" cy="2139696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55480" y="164592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26" name="Text 24"/>
          <p:cNvSpPr/>
          <p:nvPr/>
        </p:nvSpPr>
        <p:spPr>
          <a:xfrm>
            <a:off x="9555480" y="1645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83496" y="212140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part sent 3× to one customer; “7th escalation”.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83496" y="33284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94360" y="4023360"/>
            <a:ext cx="2084832" cy="2139696"/>
          </a:xfrm>
          <a:prstGeom prst="rect">
            <a:avLst/>
          </a:prstGeom>
          <a:solidFill>
            <a:srgbClr val="F6F3EF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02336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0233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" y="449884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tickets in April, 37 unclosed; the 88-day throttle.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2834640" y="4023360"/>
            <a:ext cx="2084832" cy="2139696"/>
          </a:xfrm>
          <a:prstGeom prst="rect">
            <a:avLst/>
          </a:prstGeom>
          <a:solidFill>
            <a:srgbClr val="F6F3EF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402336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36" name="Text 34"/>
          <p:cNvSpPr/>
          <p:nvPr/>
        </p:nvSpPr>
        <p:spPr>
          <a:xfrm>
            <a:off x="2834640" y="40233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62656" y="449884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case filed; whole T-Rex+ lot unsellable.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62656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5074920" y="4023360"/>
            <a:ext cx="2084832" cy="2139696"/>
          </a:xfrm>
          <a:prstGeom prst="rect">
            <a:avLst/>
          </a:prstGeom>
          <a:solidFill>
            <a:srgbClr val="F6F3EF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74920" y="402336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40233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02936" y="449884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bike untraceable; 55-day replacement cycles.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02936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315200" y="4023360"/>
            <a:ext cx="2084832" cy="2139696"/>
          </a:xfrm>
          <a:prstGeom prst="rect">
            <a:avLst/>
          </a:prstGeom>
          <a:solidFill>
            <a:srgbClr val="F6F3EF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0" y="402336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40233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43216" y="449884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 “no response” despite posted evidence.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43216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9555480" y="4023360"/>
            <a:ext cx="2084832" cy="2139696"/>
          </a:xfrm>
          <a:prstGeom prst="rect">
            <a:avLst/>
          </a:prstGeom>
          <a:solidFill>
            <a:srgbClr val="F6F3EF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55480" y="4023360"/>
            <a:ext cx="2084832" cy="365760"/>
          </a:xfrm>
          <a:prstGeom prst="rect">
            <a:avLst/>
          </a:prstGeom>
          <a:solidFill>
            <a:srgbClr val="232020"/>
          </a:solidFill>
          <a:ln/>
        </p:spPr>
      </p:sp>
      <p:sp>
        <p:nvSpPr>
          <p:cNvPr id="51" name="Text 49"/>
          <p:cNvSpPr/>
          <p:nvPr/>
        </p:nvSpPr>
        <p:spPr>
          <a:xfrm>
            <a:off x="9555480" y="40233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83496" y="4498848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lost in courier; systemic brake failures; audit freeze.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683496" y="5705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chases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· THE PATTERN SETS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one: no tracking system, growing backlog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48823" y="1431036"/>
            <a:ext cx="1142834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sessions/gallant-funny-allen/deck/img/00000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827" y="1463040"/>
            <a:ext cx="1078826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3520440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20440"/>
            <a:ext cx="1367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the first defect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Disc-brake bolt slipping on a demo X1. Answered 16 days and three chases later — the group’s very first exchange.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049063" y="1431036"/>
            <a:ext cx="1448209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1" descr="/sessions/gallant-funny-allen/deck/img/000007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67" y="1463040"/>
            <a:ext cx="1384201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7288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63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47288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DELAY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447288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24-case backlog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47288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cases can the team resolve today? 24 pending cases.” EM’s own audit: 12 ticketed, 4 resolved.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47288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874002" y="1431036"/>
            <a:ext cx="150418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9" name="Image 2" descr="/sessions/gallant-funny-allen/deck/img/0000157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06" y="1463040"/>
            <a:ext cx="144018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00216" y="3520440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00216" y="3520440"/>
            <a:ext cx="1522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FAILURE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300216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frames arrive damaged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00216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warranty replacement frames shipped to BCH — both damaged in transit, restarting the whole cycle.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0216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9907607" y="1431036"/>
            <a:ext cx="1142834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6" name="Image 3" descr="/sessions/gallant-funny-allen/deck/img/0000298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611" y="1463040"/>
            <a:ext cx="1078826" cy="19202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53144" y="3520440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53144" y="3520440"/>
            <a:ext cx="1522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FAILURE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9153144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boxed bike, bent fork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53144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damage on an unsold T-Rex Pro. Replaced in 7 days; the replacement arrived missing its mudguard.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153144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94360" y="63276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2024:  “30% of issues have no ticket number” (Oct) · duplicate ticket IDs · freewheel shipped against a motor complaint · CEO reprimand (15 Oct)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JANUARY – JUNE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parts, evidence loops, and an 8-day average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47950" y="1431036"/>
            <a:ext cx="1144579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sessions/gallant-funny-allen/deck/img/000038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954" y="1463040"/>
            <a:ext cx="1080571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TICKETING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part — three times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Praveen received the wrong brake lever 3 consecutive times in a week. CEO: “6-7 hour TAT to respond is pathetic.”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FEB–MAR 2025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15284" y="1757095"/>
            <a:ext cx="2715768" cy="133212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1" descr="/sessions/gallant-funny-allen/deck/img/0000349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789099"/>
            <a:ext cx="2651760" cy="126812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7288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47288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TICKETING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447288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while still broken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47288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showed “customer repaired the cycle at nearby shop” — as the customer called the store a 4th time about his undelivered motor.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47288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874002" y="1431036"/>
            <a:ext cx="150418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9" name="Image 2" descr="/sessions/gallant-funny-allen/deck/img/0000464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06" y="1463040"/>
            <a:ext cx="144018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00216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63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00216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DELAY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300216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April, measured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00216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tickets in one month, 37 unclosed, average 8 days to resolve. EM’s own target of 72 hours was never met.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0216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9906734" y="1431036"/>
            <a:ext cx="1144579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6" name="Image 3" descr="/sessions/gallant-funny-allen/deck/img/0000433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8738" y="1463040"/>
            <a:ext cx="1080571" cy="19202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53144" y="3520440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53144" y="3520440"/>
            <a:ext cx="1367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9153144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Out-of-box continues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53144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damaged inside a sealed box; new units missing pedals and toolkits; a unit dead on arrival the same week.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153144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94360" y="63276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same details given to 4 different EM numbers (Jan) · Zoho access took 2 months of asking (Apr) · 3 wrong throttles left one bike in stock 3 months (May)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JULY – DECEMBER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breaking point — and the root cause, found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40471" y="1431036"/>
            <a:ext cx="95953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sessions/gallant-funny-allen/deck/img/000058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475" y="1463040"/>
            <a:ext cx="89553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63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DELAY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case is filed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weeks of unanswered chases, a customer formally filed a consumer court case on 23 Jul. More legal threats followed in August.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021074" y="1431036"/>
            <a:ext cx="150418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1" descr="/sessions/gallant-funny-allen/deck/img/000067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78" y="1463040"/>
            <a:ext cx="1440180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7288" y="3520440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47288" y="3520440"/>
            <a:ext cx="1367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447288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lot, unsellable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47288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T-Rex+ shipment missing headset spacers. “Not able to sell a single bike sir. We have 10 more units in the warehouse.”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47288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146327" y="1431036"/>
            <a:ext cx="95953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9" name="Image 2" descr="/sessions/gallant-funny-allen/deck/img/0000664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331" y="1463040"/>
            <a:ext cx="89553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00216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00216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TICKETING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300216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smoking gun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00216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chasing explained: EM agents’ Zoho comments were set to PRIVATE — invisible to BCH. Fixed only after BCH escalated.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0216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9726930" y="1431036"/>
            <a:ext cx="150418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6" name="Image 3" descr="/sessions/gallant-funny-allen/deck/img/0000692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934" y="1463040"/>
            <a:ext cx="1440180" cy="19202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53144" y="3520440"/>
            <a:ext cx="136702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53144" y="3520440"/>
            <a:ext cx="1367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9153144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Gears first, motor later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53144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Motor-noise protocol sent planetary gears that failed to fix it — twice — before the motor followed. Replacement gears arrived leaking grease.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153144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 2025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94360" y="63276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motor #84001 took ~80 days · returned bike untraceable in Pune (Oct–Nov) · charger serial asked 6× after being shared · 55-day replacement cycles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JANUARY – JUNE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year: closures without consent, denials by default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44835" y="1431036"/>
            <a:ext cx="950810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sessions/gallant-funny-allen/deck/img/000072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839" y="1463040"/>
            <a:ext cx="886802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3520440"/>
            <a:ext cx="144475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204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DISPUTE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“Sticker tampered”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warranty contested over a sticker; 15-day replacement timeline for a 3-day-old ticket. EM’s own manager: “Why we have such a long waiting for battery?”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2025–JAN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84839" y="1431036"/>
            <a:ext cx="1976658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1" descr="/sessions/gallant-funny-allen/deck/img/0000787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843" y="1463040"/>
            <a:ext cx="1912650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7288" y="3520440"/>
            <a:ext cx="144475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47288" y="35204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DISPUTE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447288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corrected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47288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Doodle range complaint was closed by promising to fix the spec in the manual — not the battery that was verbally committed.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47288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268212" y="1645047"/>
            <a:ext cx="2715768" cy="155622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9" name="Image 2" descr="/sessions/gallant-funny-allen/deck/img/0000789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677051"/>
            <a:ext cx="2651760" cy="149221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00216" y="3520440"/>
            <a:ext cx="167792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00216" y="3520440"/>
            <a:ext cx="1677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TICKETING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300216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blamed first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00216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toolkit met with “tell dealer to check if he mistakenly put that PDI somewhere else.” Part dispatched 24 days later.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0216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MAR–APR 2026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9121140" y="1554646"/>
            <a:ext cx="2715768" cy="1737027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6" name="Image 3" descr="/sessions/gallant-funny-allen/deck/img/0000852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1586650"/>
            <a:ext cx="2651760" cy="1673019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53144" y="3520440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53144" y="3520440"/>
            <a:ext cx="1522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FAILURE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9153144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“tomorrow”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153144" y="43891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cycle delivery promised “today/tomorrow” for four straight days; the store had no ticket number until it asked repeatedly.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153144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94360" y="63276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tickets #99827 &amp; #100251 closed for “no response” despite evidence · tyre/tube out of stock 22 days · coordinators unreachable all morning (7 Feb)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promise is 48 hours. The record says otherwise.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first report to resolution, for measurable cases in the chat record.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920240"/>
          <a:ext cx="82296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235440" y="2103120"/>
            <a:ext cx="2377440" cy="1828800"/>
          </a:xfrm>
          <a:prstGeom prst="rect">
            <a:avLst/>
          </a:prstGeom>
          <a:solidFill>
            <a:srgbClr val="23201D"/>
          </a:solidFill>
          <a:ln/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18320" y="22860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44×</a:t>
            </a:r>
            <a:endParaRPr lang="en-US" sz="4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promised TAT, on the worst case (88 days vs 48 hours)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9235440" y="4206240"/>
            <a:ext cx="2377440" cy="1828800"/>
          </a:xfrm>
          <a:prstGeom prst="rect">
            <a:avLst/>
          </a:prstGeom>
          <a:solidFill>
            <a:srgbClr val="F6F3EF"/>
          </a:solidFill>
          <a:ln/>
        </p:spPr>
      </p:sp>
      <p:sp>
        <p:nvSpPr>
          <p:cNvPr id="9" name="Text 6"/>
          <p:cNvSpPr/>
          <p:nvPr/>
        </p:nvSpPr>
        <p:spPr>
          <a:xfrm>
            <a:off x="9418320" y="4370832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days</a:t>
            </a:r>
            <a:endParaRPr lang="en-US" sz="28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case #106261 — proof the pipeline works when intake is clean and stock exists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TRAIL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all in writing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documents from the chat: backlogs, closures, denials and admissions — the system telling on itself.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45571" y="1796796"/>
            <a:ext cx="134933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/sessions/gallant-funny-allen/deck/img/000007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575" y="1828800"/>
            <a:ext cx="1285330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EM’s audit of the 24-case backlog (Jun 2024)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415284" y="2054275"/>
            <a:ext cx="2715768" cy="1332129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9" name="Image 1" descr="/sessions/gallant-funny-allen/deck/img/0000349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086279"/>
            <a:ext cx="2651760" cy="1268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47288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closed — customer still broken (Jan 2025)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925437" y="1796796"/>
            <a:ext cx="1401318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2" descr="/sessions/gallant-funny-allen/deck/img/0000464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41" y="1828800"/>
            <a:ext cx="1337310" cy="1783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0216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2025: the 50-ticket ledger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10031238" y="1796796"/>
            <a:ext cx="895572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5" name="Image 3" descr="/sessions/gallant-funny-allen/deck/img/0000585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242" y="1828800"/>
            <a:ext cx="831564" cy="1783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53144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case filed (Jul 2025)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1472454" y="4082796"/>
            <a:ext cx="895572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8" name="Image 4" descr="/sessions/gallant-funny-allen/deck/img/0000664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458" y="4114800"/>
            <a:ext cx="831564" cy="1783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4360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comments “private” — root cause (Sep 2025)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3853148" y="4082796"/>
            <a:ext cx="184004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1" name="Image 5" descr="/sessions/gallant-funny-allen/deck/img/0000787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152" y="4114800"/>
            <a:ext cx="1776032" cy="17830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47288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will correct the manual” (Mar 2026)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6268212" y="4229433"/>
            <a:ext cx="2715768" cy="1553815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4" name="Image 6" descr="/sessions/gallant-funny-allen/deck/img/0000862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4261437"/>
            <a:ext cx="2651760" cy="148980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300216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months, no update — “Not applicable” (Jun 2026)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9887781" y="4082796"/>
            <a:ext cx="1182485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27" name="Image 7" descr="/sessions/gallant-funny-allen/deck/img/00007858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9785" y="4114800"/>
            <a:ext cx="1118477" cy="17830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153144" y="5943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B5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test the customer had to repeat (Mar 2026)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·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source: quality, stock, and silence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481328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1168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6824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Pre-dispatch inspection that actually catches defects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066544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PDI photos attached to every unit’s invoice · treat a repeated defect as a batch issue and inspect the whole lot · open a root-cause investigation on the mechanical brake system.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0" y="1719072"/>
            <a:ext cx="3063240" cy="1170432"/>
          </a:xfrm>
          <a:prstGeom prst="rect">
            <a:avLst/>
          </a:prstGeom>
          <a:solidFill>
            <a:srgbClr val="F2EEE8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1792224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ts val="1150"/>
              </a:lnSpc>
              <a:buNone/>
            </a:pPr>
            <a:r>
              <a:rPr lang="en-US" sz="930" i="1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assembled units shared one wiring fault (2024); an entire lot missing spacers (2025); pads dead at 527 km (2026).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0972800" cy="1481328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7588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75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3467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spare stock — promised Aug 2024, still pending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373075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the top-10 failure SKUs at the dealer or a Bangalore/Hyderabad depot · every stock-out gets an ETA within 24h · service dispatches exempt from audit freezes · let the dealer fix small warranty items against a monthly credit note.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3383280"/>
            <a:ext cx="3063240" cy="1170432"/>
          </a:xfrm>
          <a:prstGeom prst="rect">
            <a:avLst/>
          </a:prstGeom>
          <a:solidFill>
            <a:srgbClr val="F2EEE8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456432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ts val="1150"/>
              </a:lnSpc>
              <a:buNone/>
            </a:pPr>
            <a:r>
              <a:rPr lang="en-US" sz="930" i="1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will try stocking spares at Bangalore soon” — EMotorad, 9 Aug 2024.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4882896"/>
            <a:ext cx="10972800" cy="1481328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340096"/>
            <a:ext cx="566928" cy="566928"/>
          </a:xfrm>
          <a:prstGeom prst="ellipse">
            <a:avLst/>
          </a:prstGeom>
          <a:solidFill>
            <a:srgbClr val="9463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340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5010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SLAs with automatic escalation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691640" y="5394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in 4 working hours, dispatch decision in 48h, resolution in 72h · any ticket silent 24h auto-escalates · one named owner per ticket · a 10-minute daily standup on open tickets.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5047488"/>
            <a:ext cx="3063240" cy="1170432"/>
          </a:xfrm>
          <a:prstGeom prst="rect">
            <a:avLst/>
          </a:prstGeom>
          <a:solidFill>
            <a:srgbClr val="F2EEE8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5120640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b="1" spc="100" kern="0" dirty="0">
                <a:solidFill>
                  <a:srgbClr val="94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ts val="1150"/>
              </a:lnSpc>
              <a:buNone/>
            </a:pPr>
            <a:r>
              <a:rPr lang="en-US" sz="930" i="1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de-facto escalation path is the dealer tagging the CEO on WhatsApp.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·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loop: logistics, warranty, tickets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481328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11680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6824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at dispatch, POD at delivery — every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066544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docket within 24h of every dispatch · never close on courier status alone — require dealer/customer confirmation · stale tracking for 5 days auto-triggers a replacement · better packaging for frames and gears.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321040" y="1719072"/>
            <a:ext cx="3063240" cy="1170432"/>
          </a:xfrm>
          <a:prstGeom prst="rect">
            <a:avLst/>
          </a:prstGeom>
          <a:solidFill>
            <a:srgbClr val="F2EEE8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1792224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ts val="1150"/>
              </a:lnSpc>
              <a:buNone/>
            </a:pPr>
            <a:r>
              <a:rPr lang="en-US" sz="930" i="1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display lost in courier for 20 days; “delivered” parts that never arrived; two frames damaged in transit.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0972800" cy="1481328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7588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75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33467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warranty matrix and a one-time evidence checklist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373075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warranty terms public to dealer and customers · define complete evidence per defect type up front — once submitted, never re-asked · grey-zone cases go to a 48-hour senior review · honour commitments made in meetings.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3383280"/>
            <a:ext cx="3063240" cy="1170432"/>
          </a:xfrm>
          <a:prstGeom prst="rect">
            <a:avLst/>
          </a:prstGeom>
          <a:solidFill>
            <a:srgbClr val="F2EEE8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3456432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ts val="1150"/>
              </a:lnSpc>
              <a:buNone/>
            </a:pPr>
            <a:r>
              <a:rPr lang="en-US" sz="930" i="1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warranty discovered to be 6 months only at denial; a promised battery became a manual correction.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4882896"/>
            <a:ext cx="10972800" cy="1481328"/>
          </a:xfrm>
          <a:prstGeom prst="rect">
            <a:avLst/>
          </a:prstGeom>
          <a:solidFill>
            <a:srgbClr val="FBFAF8"/>
          </a:solidFill>
          <a:ln w="9525">
            <a:solidFill>
              <a:srgbClr val="E5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34009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340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5010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gets a number; nothing closes without consent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691640" y="5394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Auto-issue ticket numbers at intake (incl. stock units) · ban “closed — no response” when evidence exists · quarterly joint Zoho visibility audit · barcode check at the spare-parts pick line · a shared quarterly scorecard: TAT, first-response, wrong-dispatch count, DOA rate.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5047488"/>
            <a:ext cx="3063240" cy="1170432"/>
          </a:xfrm>
          <a:prstGeom prst="rect">
            <a:avLst/>
          </a:prstGeom>
          <a:solidFill>
            <a:srgbClr val="F2EEE8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5120640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lnSpc>
                <a:spcPts val="1150"/>
              </a:lnSpc>
              <a:buNone/>
            </a:pPr>
            <a:r>
              <a:rPr lang="en-US" sz="930" i="1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complaints unticketed (2024); private comments hid updates for months (2025); “ticket number not given” again in Jun 2026.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48472" y="6473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BCH × EMOTORAD SERVICE REVIEW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FIX THAT MATTERS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dealer out of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follow-up loop.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in this review shows the same signature: nothing moves until BCH chases, and everything moves once leadership is tagged. A written SLA with automatic escalation, a shared scorecard, and regional spare stock would eliminate most of the 711 chase messages documented here — and the customer experiences behind them.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5029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5056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SLA + escalation matrix in the next Wednesday meet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532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5559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 date for regional spare stocking (top-10 SKUs)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035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6062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shared quarterly scorecard from Q3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46236" y="3606560"/>
            <a:ext cx="2898648" cy="1656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22000"/>
              </a:srgbClr>
            </a:outerShdw>
          </a:effectLst>
        </p:spPr>
      </p:sp>
      <p:pic>
        <p:nvPicPr>
          <p:cNvPr id="12" name="Image 0" descr="/sessions/gallant-funny-allen/deck/img/00000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638564"/>
            <a:ext cx="2834640" cy="15925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0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C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STARTED: THE FIRST COMPLAINT, 24 FEB 2024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8580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Bharat Cycle Hub · from the complete export of “Bch X EM service team” · 12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BCH x EMotorad Service Issue Review</dc:title>
  <dc:subject>PptxGenJS Presentation</dc:subject>
  <dc:creator>Bharat Cycle Hub</dc:creator>
  <cp:lastModifiedBy>Bharat Cycle Hub</cp:lastModifiedBy>
  <cp:revision>1</cp:revision>
  <dcterms:created xsi:type="dcterms:W3CDTF">2026-06-12T09:41:21Z</dcterms:created>
  <dcterms:modified xsi:type="dcterms:W3CDTF">2026-06-12T09:41:21Z</dcterms:modified>
</cp:coreProperties>
</file>